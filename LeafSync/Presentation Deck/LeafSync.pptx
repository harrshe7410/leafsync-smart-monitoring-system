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8433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BDE6B-4EC9-5073-92B2-7EB74B493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CADC7-6F38-C32A-9A5D-76290673F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51A4A-B7DA-943B-6BE3-BD47773F0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6A924-4DB1-DE25-9606-82BE2AB738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783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182880"/>
            <a:ext cx="91440" cy="91440"/>
          </a:xfrm>
          <a:prstGeom prst="ellipse">
            <a:avLst/>
          </a:prstGeom>
          <a:solidFill>
            <a:srgbClr val="2D9E6B">
              <a:alpha val="40000"/>
            </a:srgbClr>
          </a:solidFill>
          <a:ln w="12700">
            <a:solidFill>
              <a:srgbClr val="2D9E6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182880"/>
            <a:ext cx="91440" cy="91440"/>
          </a:xfrm>
          <a:prstGeom prst="ellipse">
            <a:avLst/>
          </a:prstGeom>
          <a:solidFill>
            <a:srgbClr val="2D9E6B">
              <a:alpha val="40000"/>
            </a:srgbClr>
          </a:solidFill>
          <a:ln w="12700">
            <a:solidFill>
              <a:srgbClr val="2D9E6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182880"/>
            <a:ext cx="91440" cy="91440"/>
          </a:xfrm>
          <a:prstGeom prst="ellipse">
            <a:avLst/>
          </a:prstGeom>
          <a:solidFill>
            <a:srgbClr val="2D9E6B">
              <a:alpha val="40000"/>
            </a:srgbClr>
          </a:solidFill>
          <a:ln w="12700">
            <a:solidFill>
              <a:srgbClr val="2D9E6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457200"/>
            <a:ext cx="91440" cy="91440"/>
          </a:xfrm>
          <a:prstGeom prst="ellipse">
            <a:avLst/>
          </a:prstGeom>
          <a:solidFill>
            <a:srgbClr val="2D9E6B">
              <a:alpha val="40000"/>
            </a:srgbClr>
          </a:solidFill>
          <a:ln w="12700">
            <a:solidFill>
              <a:srgbClr val="2D9E6B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457200"/>
            <a:ext cx="91440" cy="91440"/>
          </a:xfrm>
          <a:prstGeom prst="ellipse">
            <a:avLst/>
          </a:prstGeom>
          <a:solidFill>
            <a:srgbClr val="2D9E6B">
              <a:alpha val="40000"/>
            </a:srgbClr>
          </a:solidFill>
          <a:ln w="12700">
            <a:solidFill>
              <a:srgbClr val="2D9E6B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457200"/>
            <a:ext cx="91440" cy="91440"/>
          </a:xfrm>
          <a:prstGeom prst="ellipse">
            <a:avLst/>
          </a:prstGeom>
          <a:solidFill>
            <a:srgbClr val="2D9E6B">
              <a:alpha val="40000"/>
            </a:srgbClr>
          </a:solidFill>
          <a:ln w="12700">
            <a:solidFill>
              <a:srgbClr val="2D9E6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731520"/>
            <a:ext cx="91440" cy="91440"/>
          </a:xfrm>
          <a:prstGeom prst="ellipse">
            <a:avLst/>
          </a:prstGeom>
          <a:solidFill>
            <a:srgbClr val="2D9E6B">
              <a:alpha val="40000"/>
            </a:srgbClr>
          </a:solidFill>
          <a:ln w="12700">
            <a:solidFill>
              <a:srgbClr val="2D9E6B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0" y="731520"/>
            <a:ext cx="91440" cy="91440"/>
          </a:xfrm>
          <a:prstGeom prst="ellipse">
            <a:avLst/>
          </a:prstGeom>
          <a:solidFill>
            <a:srgbClr val="2D9E6B">
              <a:alpha val="40000"/>
            </a:srgbClr>
          </a:solidFill>
          <a:ln w="12700">
            <a:solidFill>
              <a:srgbClr val="2D9E6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0" y="731520"/>
            <a:ext cx="91440" cy="91440"/>
          </a:xfrm>
          <a:prstGeom prst="ellipse">
            <a:avLst/>
          </a:prstGeom>
          <a:solidFill>
            <a:srgbClr val="2D9E6B">
              <a:alpha val="40000"/>
            </a:srgbClr>
          </a:solidFill>
          <a:ln w="12700">
            <a:solidFill>
              <a:srgbClr val="2D9E6B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64008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502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OPEN INNOVATION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dirty="0">
                <a:solidFill>
                  <a:schemeClr val="bg2"/>
                </a:solidFill>
              </a:rPr>
              <a:t>Leaf Sync -  Smart</a:t>
            </a:r>
          </a:p>
        </p:txBody>
      </p:sp>
      <p:sp>
        <p:nvSpPr>
          <p:cNvPr id="15" name="Text 13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2D9E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System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457200" y="26974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 IoT-based personal safety device disguised as a decorative plant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0"/>
            <a:ext cx="640080" cy="38404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749040" cy="3383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09728" cy="338328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34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Phones unreachable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904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grab during a sudden threat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039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Visible panic buttons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2951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spotted and disabled by attackers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8437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evidence collected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0998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alerts don't record what happened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6484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 activation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9044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apps fail when speed matters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0" y="1051560"/>
            <a:ext cx="4206240" cy="1463040"/>
          </a:xfrm>
          <a:prstGeom prst="rect">
            <a:avLst/>
          </a:prstGeom>
          <a:solidFill>
            <a:srgbClr val="E8F5EE"/>
          </a:solidFill>
          <a:ln w="19050">
            <a:solidFill>
              <a:srgbClr val="2D9E6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E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Gap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148132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system combines hidden activation, instant alerting, and audio evidence in a single discreet device.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27432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28529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it affects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at home, hostels, PGs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35021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individuals living alone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38496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in an indoor emergency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0"/>
            <a:ext cx="640080" cy="38404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safety system hidden inside an artificial flower pot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1600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8E0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2651760" cy="73152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Discreet Design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exactly like a decorative pot. No one suspects a thing.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651760" cy="1600200"/>
          </a:xfrm>
          <a:prstGeom prst="rect">
            <a:avLst/>
          </a:prstGeom>
          <a:solidFill>
            <a:srgbClr val="E8F5EE"/>
          </a:solidFill>
          <a:ln w="12700">
            <a:solidFill>
              <a:srgbClr val="2D9E6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25880"/>
            <a:ext cx="2651760" cy="73152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Two-Step Activation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783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pot → touch the secret leaf. Dual-trigger prevents false alarms.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651760" cy="1600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8E0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25880"/>
            <a:ext cx="2651760" cy="73152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 Alert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783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emergency notification to the Blynk app via Wi-Fi in seconds.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2651760" cy="1600200"/>
          </a:xfrm>
          <a:prstGeom prst="rect">
            <a:avLst/>
          </a:prstGeom>
          <a:solidFill>
            <a:srgbClr val="E8F5EE"/>
          </a:solidFill>
          <a:ln w="12700">
            <a:solidFill>
              <a:srgbClr val="2D9E6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08960"/>
            <a:ext cx="2651760" cy="73152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 Evidence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566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INMP441 mic records surroundings. Saved to SD card for later use.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108960"/>
            <a:ext cx="2651760" cy="1600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8E0EC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3108960"/>
            <a:ext cx="2651760" cy="73152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Controllers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9000" y="3566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handles recording. ESP8266 handles alerting. No bottleneck.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108960"/>
            <a:ext cx="2651760" cy="1600200"/>
          </a:xfrm>
          <a:prstGeom prst="rect">
            <a:avLst/>
          </a:prstGeom>
          <a:solidFill>
            <a:srgbClr val="E8F5EE"/>
          </a:solidFill>
          <a:ln w="12700">
            <a:solidFill>
              <a:srgbClr val="2D9E6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108960"/>
            <a:ext cx="2651760" cy="73152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App Needed to Trigger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3566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physical gestures activate the system — even in panic.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0"/>
            <a:ext cx="640080" cy="38404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1005840"/>
            <a:ext cx="822960" cy="8229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1417320"/>
            <a:ext cx="594360" cy="0"/>
          </a:xfrm>
          <a:prstGeom prst="line">
            <a:avLst/>
          </a:prstGeom>
          <a:noFill/>
          <a:ln w="25400">
            <a:solidFill>
              <a:srgbClr val="2D9E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011680"/>
            <a:ext cx="1920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11680"/>
            <a:ext cx="1920240" cy="6400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214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Tap the Pot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sensor detects knock — Step 1 activated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1005840"/>
            <a:ext cx="822960" cy="8229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977640" y="1417320"/>
            <a:ext cx="594360" cy="0"/>
          </a:xfrm>
          <a:prstGeom prst="line">
            <a:avLst/>
          </a:prstGeom>
          <a:noFill/>
          <a:ln w="25400">
            <a:solidFill>
              <a:srgbClr val="2D9E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2011680"/>
            <a:ext cx="1920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14600" y="2011680"/>
            <a:ext cx="1920240" cy="6400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21214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Touch the Leaf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6040" y="2542032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capacitive sensor confirms — Step 2 done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66360" y="1005840"/>
            <a:ext cx="822960" cy="8229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126480" y="1417320"/>
            <a:ext cx="594360" cy="0"/>
          </a:xfrm>
          <a:prstGeom prst="line">
            <a:avLst/>
          </a:prstGeom>
          <a:noFill/>
          <a:ln w="25400">
            <a:solidFill>
              <a:srgbClr val="2D9E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011680"/>
            <a:ext cx="1920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011680"/>
            <a:ext cx="1920240" cy="6400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1214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 Sent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542032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fires notification to Blynk app via Wi-Fi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0" y="1005840"/>
            <a:ext cx="822960" cy="8229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812280" y="2011680"/>
            <a:ext cx="1920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12280" y="2011680"/>
            <a:ext cx="1920240" cy="6400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21214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 Recorded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2542032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captures surroundings via I2S mic to SD card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160520"/>
            <a:ext cx="393192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" y="41605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 →  Alert &amp; Notification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4160520"/>
            <a:ext cx="3931920" cy="64008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54880" y="41605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 →  Audio Recording &amp; SD Storage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0"/>
            <a:ext cx="640080" cy="38404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155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2D9E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 V1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controller — audio + SD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 ESP8266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3500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alerts via Blynk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6426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Sensor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8712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detection — Step 1 trigger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1638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Capacitive Touch Sensor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39242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touch — Step 2 trigger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6850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INMP441 Microphone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9136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I2S digital audio recording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MicroSD Module (32GB)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storage via SPI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023360" cy="3749040"/>
          </a:xfrm>
          <a:prstGeom prst="rect">
            <a:avLst/>
          </a:prstGeom>
          <a:solidFill>
            <a:srgbClr val="F8F9FA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11155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536192"/>
            <a:ext cx="54864" cy="45720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1600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1828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 for ESP32 &amp; ESP8266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057400"/>
            <a:ext cx="54864" cy="45720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1214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Blynk IoT Platform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28032" y="23500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mobile alert delivery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578608"/>
            <a:ext cx="54864" cy="45720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6426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I2S Protocol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28032" y="28712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digital audio input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099816"/>
            <a:ext cx="54864" cy="45720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1638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Protocol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28032" y="33924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card read/write interface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3621024"/>
            <a:ext cx="54864" cy="45720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3685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(802.11)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8032" y="39136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communication layer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4142232"/>
            <a:ext cx="54864" cy="45720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4206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Cirkit Designer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28032" y="44348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design &amp; simulation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C1EBC0-4916-AF41-96AA-3D5DAEAE3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A896D1-A571-0475-DFB0-031E4C9B9BBE}"/>
              </a:ext>
            </a:extLst>
          </p:cNvPr>
          <p:cNvSpPr/>
          <p:nvPr/>
        </p:nvSpPr>
        <p:spPr>
          <a:xfrm>
            <a:off x="8503920" y="0"/>
            <a:ext cx="640080" cy="38404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C0F71D-45D6-AA6A-3C79-25BA79E15B4E}"/>
              </a:ext>
            </a:extLst>
          </p:cNvPr>
          <p:cNvSpPr/>
          <p:nvPr/>
        </p:nvSpPr>
        <p:spPr>
          <a:xfrm>
            <a:off x="8503920" y="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8E456C-791A-F637-87C5-7D9C75C2540C}"/>
              </a:ext>
            </a:extLst>
          </p:cNvPr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Implementation</a:t>
            </a:r>
            <a:endParaRPr lang="en-US" sz="3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915FA4E-3669-1A2F-8162-4798ABE64867}"/>
              </a:ext>
            </a:extLst>
          </p:cNvPr>
          <p:cNvSpPr/>
          <p:nvPr/>
        </p:nvSpPr>
        <p:spPr>
          <a:xfrm>
            <a:off x="640080" y="16002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 V1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F7A89F7-1270-3061-B60E-C782C5E9085A}"/>
              </a:ext>
            </a:extLst>
          </p:cNvPr>
          <p:cNvSpPr/>
          <p:nvPr/>
        </p:nvSpPr>
        <p:spPr>
          <a:xfrm>
            <a:off x="640080" y="21214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 ESP8266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F65C55F-A942-2002-4A6D-809A8C080EB2}"/>
              </a:ext>
            </a:extLst>
          </p:cNvPr>
          <p:cNvSpPr/>
          <p:nvPr/>
        </p:nvSpPr>
        <p:spPr>
          <a:xfrm>
            <a:off x="640080" y="26426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Sensor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699B12B-9202-B032-997F-AA81189720AE}"/>
              </a:ext>
            </a:extLst>
          </p:cNvPr>
          <p:cNvSpPr/>
          <p:nvPr/>
        </p:nvSpPr>
        <p:spPr>
          <a:xfrm>
            <a:off x="640080" y="31638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Capacitive Touch Sensor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B209C38-ED38-0EE0-27D3-F91A7FF6BCB6}"/>
              </a:ext>
            </a:extLst>
          </p:cNvPr>
          <p:cNvSpPr/>
          <p:nvPr/>
        </p:nvSpPr>
        <p:spPr>
          <a:xfrm>
            <a:off x="640080" y="36850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INMP441 Microphone</a:t>
            </a:r>
            <a:endParaRPr lang="en-US" sz="1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91B3199-EE0B-9D4D-03AD-08250C0ABBDC}"/>
              </a:ext>
            </a:extLst>
          </p:cNvPr>
          <p:cNvSpPr/>
          <p:nvPr/>
        </p:nvSpPr>
        <p:spPr>
          <a:xfrm>
            <a:off x="295220" y="967031"/>
            <a:ext cx="8125097" cy="3749040"/>
          </a:xfrm>
          <a:prstGeom prst="rect">
            <a:avLst/>
          </a:prstGeom>
          <a:solidFill>
            <a:srgbClr val="F8F9FA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7A123C6-CAAD-C0C8-2B32-DFF2B170B14D}"/>
              </a:ext>
            </a:extLst>
          </p:cNvPr>
          <p:cNvSpPr/>
          <p:nvPr/>
        </p:nvSpPr>
        <p:spPr>
          <a:xfrm>
            <a:off x="505534" y="1600200"/>
            <a:ext cx="54864" cy="45720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6E3AFA6-E325-9DFC-F45C-681C387FBB30}"/>
              </a:ext>
            </a:extLst>
          </p:cNvPr>
          <p:cNvSpPr/>
          <p:nvPr/>
        </p:nvSpPr>
        <p:spPr>
          <a:xfrm>
            <a:off x="4733980" y="1580606"/>
            <a:ext cx="54864" cy="45720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654CD45-8706-556B-9025-465DDDFFC1FE}"/>
              </a:ext>
            </a:extLst>
          </p:cNvPr>
          <p:cNvSpPr/>
          <p:nvPr/>
        </p:nvSpPr>
        <p:spPr>
          <a:xfrm>
            <a:off x="4813662" y="167465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050F8F4-8EE3-AC68-E3B7-4C0DB8D14FE5}"/>
              </a:ext>
            </a:extLst>
          </p:cNvPr>
          <p:cNvSpPr/>
          <p:nvPr/>
        </p:nvSpPr>
        <p:spPr>
          <a:xfrm>
            <a:off x="640080" y="167465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setup</a:t>
            </a:r>
            <a:endParaRPr lang="en-US" sz="12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3A851A7-B095-55A4-AB45-188678777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27" y="2121407"/>
            <a:ext cx="3853542" cy="205506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EF3BE26-A758-FE82-FC89-84D867CB7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6548" y="2121407"/>
            <a:ext cx="3498231" cy="205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249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0"/>
            <a:ext cx="640080" cy="38404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8503920" y="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Stands Out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Comparison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1371600"/>
            <a:ext cx="173736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371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Buttons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173736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71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Apps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371600"/>
            <a:ext cx="173736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371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755648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7556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/ Discreet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17520" y="1755648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17556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755648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7556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1755648"/>
            <a:ext cx="1737360" cy="384048"/>
          </a:xfrm>
          <a:prstGeom prst="rect">
            <a:avLst/>
          </a:prstGeom>
          <a:solidFill>
            <a:srgbClr val="E8F5EE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7556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139696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1396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phone needed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17520" y="2139696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21396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139696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1396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0" y="2139696"/>
            <a:ext cx="1737360" cy="384048"/>
          </a:xfrm>
          <a:prstGeom prst="rect">
            <a:avLst/>
          </a:prstGeom>
          <a:solidFill>
            <a:srgbClr val="E8F5EE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1396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2523744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5237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Evidence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17520" y="2523744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25237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2523744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5237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92240" y="2523744"/>
            <a:ext cx="1737360" cy="384048"/>
          </a:xfrm>
          <a:prstGeom prst="rect">
            <a:avLst/>
          </a:prstGeom>
          <a:solidFill>
            <a:srgbClr val="E8F5EE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25237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2907792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29077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False-alarm prevention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17520" y="2907792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29077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54880" y="2907792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9077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92240" y="2907792"/>
            <a:ext cx="1737360" cy="384048"/>
          </a:xfrm>
          <a:prstGeom prst="rect">
            <a:avLst/>
          </a:prstGeom>
          <a:solidFill>
            <a:srgbClr val="E8F5EE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29077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3291840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291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(partial)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017520" y="3291840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3291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754880" y="3291840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291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492240" y="3291840"/>
            <a:ext cx="1737360" cy="384048"/>
          </a:xfrm>
          <a:prstGeom prst="rect">
            <a:avLst/>
          </a:prstGeom>
          <a:solidFill>
            <a:srgbClr val="E8F5EE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92240" y="3291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57200" y="3675888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6758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017520" y="3675888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0" y="36758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754880" y="3675888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36758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492240" y="3675888"/>
            <a:ext cx="1737360" cy="384048"/>
          </a:xfrm>
          <a:prstGeom prst="rect">
            <a:avLst/>
          </a:prstGeom>
          <a:solidFill>
            <a:srgbClr val="E8F5EE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36758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57200" y="4224528"/>
            <a:ext cx="82296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42245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 Homes  ·  Hostels  ·  PG Accommodations  ·  Elderly Care  ·  Any Indoor Emergency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18288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8288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8288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18288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0292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50292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50292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50292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50292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82296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82296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82296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34440" y="82296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82296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14300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114300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114300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4440" y="114300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54480" y="114300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146304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46304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146304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34440" y="146304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54480" y="1463040"/>
            <a:ext cx="91440" cy="91440"/>
          </a:xfrm>
          <a:prstGeom prst="ellipse">
            <a:avLst/>
          </a:prstGeom>
          <a:solidFill>
            <a:srgbClr val="2D9E6B">
              <a:alpha val="35000"/>
            </a:srgbClr>
          </a:solidFill>
          <a:ln w="12700">
            <a:solidFill>
              <a:srgbClr val="2D9E6B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2011680" y="1280160"/>
            <a:ext cx="315468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011680" y="1280160"/>
            <a:ext cx="91440" cy="132588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94560" y="1417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 Integration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194560" y="175564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live location with the alert for faster rescue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0" y="1280160"/>
            <a:ext cx="315468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0" y="1280160"/>
            <a:ext cx="91440" cy="132588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1417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Audio Backup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69280" y="175564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recordings to cloud for remote retrieval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011680" y="2834640"/>
            <a:ext cx="315468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011680" y="2834640"/>
            <a:ext cx="91440" cy="132588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94560" y="2971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Distress Detection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194560" y="331012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 using sound pattern recognition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0" y="2834640"/>
            <a:ext cx="315468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86400" y="2834640"/>
            <a:ext cx="91440" cy="132588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2971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669280" y="331012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dashboard for alert history and settings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011680" y="4434840"/>
            <a:ext cx="6766560" cy="45720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11680" y="44348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should be invisible — and always within reach.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498</Words>
  <Application>Microsoft Office PowerPoint</Application>
  <PresentationFormat>On-screen Show (16:9)</PresentationFormat>
  <Paragraphs>138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Flower Pot Monitoring System</dc:title>
  <dc:subject>PptxGenJS Presentation</dc:subject>
  <dc:creator>PptxGenJS</dc:creator>
  <cp:lastModifiedBy>Pradeep Kabirdas</cp:lastModifiedBy>
  <cp:revision>4</cp:revision>
  <dcterms:created xsi:type="dcterms:W3CDTF">2026-04-27T06:12:45Z</dcterms:created>
  <dcterms:modified xsi:type="dcterms:W3CDTF">2026-04-27T07:24:31Z</dcterms:modified>
</cp:coreProperties>
</file>